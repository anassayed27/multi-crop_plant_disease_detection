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us Jakarta Sans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A12C7A-8471-4BDC-967A-9A9661859FD7}">
  <a:tblStyle styleId="{E0A12C7A-8471-4BDC-967A-9A9661859F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22" Type="http://schemas.openxmlformats.org/officeDocument/2006/relationships/font" Target="fonts/JetBrainsMono-bold.fntdata"/><Relationship Id="rId10" Type="http://schemas.openxmlformats.org/officeDocument/2006/relationships/slide" Target="slides/slide4.xml"/><Relationship Id="rId21" Type="http://schemas.openxmlformats.org/officeDocument/2006/relationships/font" Target="fonts/JetBrainsMono-regular.fntdata"/><Relationship Id="rId13" Type="http://schemas.openxmlformats.org/officeDocument/2006/relationships/slide" Target="slides/slide7.xml"/><Relationship Id="rId24" Type="http://schemas.openxmlformats.org/officeDocument/2006/relationships/font" Target="fonts/JetBrainsMono-boldItalic.fntdata"/><Relationship Id="rId12" Type="http://schemas.openxmlformats.org/officeDocument/2006/relationships/slide" Target="slides/slide6.xml"/><Relationship Id="rId23" Type="http://schemas.openxmlformats.org/officeDocument/2006/relationships/font" Target="fonts/JetBrains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219700"/>
            <a:ext cx="3530649" cy="1104900"/>
          </a:xfrm>
          <a:prstGeom prst="roundRect">
            <a:avLst>
              <a:gd fmla="val 10344" name="adj"/>
            </a:avLst>
          </a:prstGeom>
          <a:solidFill>
            <a:srgbClr val="152921"/>
          </a:solidFill>
          <a:ln cap="flat" cmpd="sng" w="9525">
            <a:solidFill>
              <a:srgbClr val="2235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330749" y="5219700"/>
            <a:ext cx="3530649" cy="1104900"/>
          </a:xfrm>
          <a:prstGeom prst="roundRect">
            <a:avLst>
              <a:gd fmla="val 10344" name="adj"/>
            </a:avLst>
          </a:prstGeom>
          <a:solidFill>
            <a:srgbClr val="152921"/>
          </a:solidFill>
          <a:ln cap="flat" cmpd="sng" w="9525">
            <a:solidFill>
              <a:srgbClr val="2235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051899" y="5219700"/>
            <a:ext cx="3530649" cy="1104900"/>
          </a:xfrm>
          <a:prstGeom prst="roundRect">
            <a:avLst>
              <a:gd fmla="val 10344" name="adj"/>
            </a:avLst>
          </a:prstGeom>
          <a:solidFill>
            <a:srgbClr val="152921"/>
          </a:solidFill>
          <a:ln cap="flat" cmpd="sng" w="9525">
            <a:solidFill>
              <a:srgbClr val="2235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533400"/>
            <a:ext cx="2057400" cy="304800"/>
          </a:xfrm>
          <a:prstGeom prst="roundRect">
            <a:avLst>
              <a:gd fmla="val 18750" name="adj"/>
            </a:avLst>
          </a:prstGeom>
          <a:solidFill>
            <a:srgbClr val="0A3525"/>
          </a:solidFill>
          <a:ln cap="flat" cmpd="sng" w="9525">
            <a:solidFill>
              <a:srgbClr val="0B5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0210800" y="647700"/>
            <a:ext cx="76200" cy="76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315616"/>
            <a:ext cx="9701212" cy="1007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Multi-Crop Plant Disease Detection &amp; Farmer Advisory System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475583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AI-Powered Agricultural Pathology Platform using Dual-Head Vision Transformers (ViT-Base)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42950" y="590550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DISSERTATION &amp; DEFENSE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781300" y="600075"/>
            <a:ext cx="2107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Year 2026–2027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363200" y="60007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 ON AZURE VM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09625" y="5419725"/>
            <a:ext cx="39132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BOTANICAL BREADTH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9625" y="5648325"/>
            <a:ext cx="3913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55 Crops • 175 Pathologies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09625" y="5953125"/>
            <a:ext cx="39132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333 Valid Biologic Combinations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530774" y="5419725"/>
            <a:ext cx="39132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DEPLOYMENT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530774" y="5648325"/>
            <a:ext cx="3913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Microsoft Azure Linux VM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530774" y="5953125"/>
            <a:ext cx="39132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Ubuntu 24.04 LTS (Standard B2s)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251924" y="5419725"/>
            <a:ext cx="39132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HOST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251924" y="5648325"/>
            <a:ext cx="391324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172.198.160.255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251924" y="5934075"/>
            <a:ext cx="39132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24/7 Live Uptime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609600" y="610537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561832" y="1942504"/>
            <a:ext cx="5020567" cy="3271837"/>
          </a:xfrm>
          <a:prstGeom prst="roundRect">
            <a:avLst>
              <a:gd fmla="val 349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1716285"/>
            <a:ext cx="5647432" cy="781050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09600" y="2630685"/>
            <a:ext cx="5647432" cy="981075"/>
          </a:xfrm>
          <a:prstGeom prst="roundRect">
            <a:avLst>
              <a:gd fmla="val 97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09600" y="3745110"/>
            <a:ext cx="5647432" cy="781050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09600" y="4659510"/>
            <a:ext cx="5647432" cy="781050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761857" y="4390429"/>
            <a:ext cx="4620517" cy="62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761857" y="4390429"/>
            <a:ext cx="38100" cy="62388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857" y="2142529"/>
            <a:ext cx="4620517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1857" y="2142529"/>
            <a:ext cx="4620517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191631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83071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394513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485953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609600" y="6219676"/>
            <a:ext cx="11068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Field noise factors: Ambient shadow patterns, soil dirt, moisture droplets, and complex background foliar clutter.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Existing AI Models Fail in Real Agricultural Fields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09625" y="1878210"/>
            <a:ext cx="68871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Massive Crop Losses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09625" y="2135385"/>
            <a:ext cx="65592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 pathogens cause 20% to 40% yield collapse annually.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09625" y="2792610"/>
            <a:ext cx="68871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Single-Crop Limitations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09625" y="3049785"/>
            <a:ext cx="534263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models only evaluate solitary crops without multi-host coverage.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09625" y="3907035"/>
            <a:ext cx="68871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Lab vs. Field Collapse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09625" y="4164210"/>
            <a:ext cx="65592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datasets report 99% accuracy but collapse below 35% outdoors.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09625" y="4821435"/>
            <a:ext cx="68871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Pathology Ambiguity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09625" y="5078610"/>
            <a:ext cx="65592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Identical lesions across potato and tomato confuse standard neural nets.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933307" y="4390429"/>
            <a:ext cx="525869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Research Objective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933307" y="4628554"/>
            <a:ext cx="4544317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Decouple host crop classification from disease identification to eliminate cross-crop diagnosis failures.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609600" y="5981551"/>
            <a:ext cx="10972800" cy="419100"/>
          </a:xfrm>
          <a:prstGeom prst="roundRect">
            <a:avLst>
              <a:gd fmla="val 181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09600" y="1937742"/>
            <a:ext cx="3505200" cy="3157537"/>
          </a:xfrm>
          <a:prstGeom prst="roundRect">
            <a:avLst>
              <a:gd fmla="val 3619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343400" y="1937742"/>
            <a:ext cx="3505200" cy="3157537"/>
          </a:xfrm>
          <a:prstGeom prst="roundRect">
            <a:avLst>
              <a:gd fmla="val 3619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8077200" y="1937742"/>
            <a:ext cx="3505200" cy="3157537"/>
          </a:xfrm>
          <a:prstGeom prst="roundRect">
            <a:avLst>
              <a:gd fmla="val 3619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847725" y="4561879"/>
            <a:ext cx="3028950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4581525" y="4561879"/>
            <a:ext cx="3028950" cy="9525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315325" y="4561879"/>
            <a:ext cx="302895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847725" y="2175867"/>
            <a:ext cx="628650" cy="247650"/>
          </a:xfrm>
          <a:prstGeom prst="roundRect">
            <a:avLst>
              <a:gd fmla="val 2307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581525" y="2175867"/>
            <a:ext cx="647700" cy="247650"/>
          </a:xfrm>
          <a:prstGeom prst="roundRect">
            <a:avLst>
              <a:gd fmla="val 2307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315325" y="2175867"/>
            <a:ext cx="1209675" cy="247650"/>
          </a:xfrm>
          <a:prstGeom prst="roundRect">
            <a:avLst>
              <a:gd fmla="val 23076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75" y="220444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9975" y="220444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3775" y="220444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800100" y="6095851"/>
            <a:ext cx="10687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Backbone: Timm ViT-Base/16 • 196 Patches (16x16) • 768-dim Global Multi-Head Self-Attention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INNOVATION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Decoupled Dual-Head Vision Transformer Architecture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847725" y="4676179"/>
            <a:ext cx="3124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Eliminates cross-species taxonomic confusion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581525" y="4676179"/>
            <a:ext cx="3124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lesion chlorosis independently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315325" y="4676179"/>
            <a:ext cx="3124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agricultural safety constraint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847725" y="2537817"/>
            <a:ext cx="39754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Botanical Anchor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47725" y="2880717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55 Agricultural Crops Identified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4581525" y="2537817"/>
            <a:ext cx="39754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Pathology Anchor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4581525" y="2880717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175 Disease Pathologies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315325" y="2537817"/>
            <a:ext cx="3876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Verification Matrix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315325" y="2880717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333 Biologically Valid Pairs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942975" y="2213967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HEAD 1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47725" y="3214092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Linear Projection:</a:t>
            </a:r>
            <a:r>
              <a:rPr b="0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768-dim to 55 crop logits.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47725" y="3695104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Diverse Scope:</a:t>
            </a:r>
            <a:r>
              <a:rPr b="0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Cereals, pulses, fruits, and oilseeds.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847725" y="4176117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Role:</a:t>
            </a:r>
            <a:r>
              <a:rPr b="0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Locks crop context prior to disease naming.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4676775" y="2213967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HEAD 2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4581525" y="3214092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Linear Projection:</a:t>
            </a:r>
            <a:r>
              <a:rPr b="0" i="0" lang="en-US" sz="112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768-dim to 175 disease logits.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4581525" y="3695104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Symptom Range:</a:t>
            </a:r>
            <a:r>
              <a:rPr b="0" i="0" lang="en-US" sz="112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Blights, wilts, mosaics, and spots.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4581525" y="4176117"/>
            <a:ext cx="378618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Role:</a:t>
            </a:r>
            <a:r>
              <a:rPr b="0" i="0" lang="en-US" sz="112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Isolates necrotic lesion margins.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410575" y="2213967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SAFETY FUSION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315325" y="3214092"/>
            <a:ext cx="378618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Joint Probability:</a:t>
            </a:r>
            <a:r>
              <a:rPr b="0" i="0" lang="en-US" sz="112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P(Crop) × P(Disease).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8315325" y="3502223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Hallucinations:</a:t>
            </a:r>
            <a:r>
              <a:rPr b="0" i="0" lang="en-US" sz="112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Forbids impossible disease-crop pairs.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8315325" y="3983235"/>
            <a:ext cx="312420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Confidence Gating:</a:t>
            </a:r>
            <a:r>
              <a:rPr b="0" i="0" lang="en-US" sz="112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Rejects predictions below 40%.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609600" y="1930747"/>
            <a:ext cx="1717625" cy="1368474"/>
          </a:xfrm>
          <a:prstGeom prst="roundRect">
            <a:avLst>
              <a:gd fmla="val 69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2460575" y="1930747"/>
            <a:ext cx="1717625" cy="1368474"/>
          </a:xfrm>
          <a:prstGeom prst="roundRect">
            <a:avLst>
              <a:gd fmla="val 69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311550" y="1930747"/>
            <a:ext cx="1717625" cy="1368474"/>
          </a:xfrm>
          <a:prstGeom prst="roundRect">
            <a:avLst>
              <a:gd fmla="val 69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162526" y="1930747"/>
            <a:ext cx="1717625" cy="1368474"/>
          </a:xfrm>
          <a:prstGeom prst="roundRect">
            <a:avLst>
              <a:gd fmla="val 69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013501" y="1930747"/>
            <a:ext cx="1717625" cy="1368474"/>
          </a:xfrm>
          <a:prstGeom prst="roundRect">
            <a:avLst>
              <a:gd fmla="val 69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9864476" y="1930747"/>
            <a:ext cx="1717625" cy="1368474"/>
          </a:xfrm>
          <a:prstGeom prst="roundRect">
            <a:avLst>
              <a:gd fmla="val 69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09600" y="4178498"/>
            <a:ext cx="3530649" cy="1171575"/>
          </a:xfrm>
          <a:prstGeom prst="roundRect">
            <a:avLst>
              <a:gd fmla="val 813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4330749" y="4178498"/>
            <a:ext cx="3530649" cy="1171575"/>
          </a:xfrm>
          <a:prstGeom prst="roundRect">
            <a:avLst>
              <a:gd fmla="val 813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8051899" y="4178498"/>
            <a:ext cx="3530649" cy="1171575"/>
          </a:xfrm>
          <a:prstGeom prst="roundRect">
            <a:avLst>
              <a:gd fmla="val 813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609600" y="62293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End-to-End Pipeline Execution: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 250 milliseconds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 standard CPU instance.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ENGINEERING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Inference &amp; Dataflow Pipeline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752475" y="2111722"/>
            <a:ext cx="1789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INPUT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752475" y="2321272"/>
            <a:ext cx="1879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Leaf Capture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52475" y="2578447"/>
            <a:ext cx="1527125" cy="53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Farmer uploads leaf photo from mobile camera.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2603450" y="2111722"/>
            <a:ext cx="1789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PREP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2603450" y="2321272"/>
            <a:ext cx="1879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Normalization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2603450" y="2578447"/>
            <a:ext cx="1527125" cy="53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Resized to 224x224 with ImageNet parameters.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4454425" y="2111722"/>
            <a:ext cx="1789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EMBED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4454425" y="2321272"/>
            <a:ext cx="1879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Patch Split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454425" y="2578447"/>
            <a:ext cx="1527125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 linear 16x16 tokens plus CLS vector.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305401" y="2111722"/>
            <a:ext cx="1789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INFERENCE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305401" y="2321272"/>
            <a:ext cx="1879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Dual Forward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6305401" y="2578447"/>
            <a:ext cx="1527125" cy="53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Simultaneous plant and disease head pass.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8156376" y="2111722"/>
            <a:ext cx="1789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FUSION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8156376" y="2321272"/>
            <a:ext cx="1879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Matrix Gating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8156376" y="2578447"/>
            <a:ext cx="1527125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Multiplication filtered through 333 pairs.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0007351" y="2111722"/>
            <a:ext cx="1789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ADVISORY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10007351" y="2321272"/>
            <a:ext cx="1879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PDF &amp; Report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10007351" y="2578447"/>
            <a:ext cx="1527125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5-pillar treatment and PDF dispatch.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790575" y="4359473"/>
            <a:ext cx="39608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&amp; CLIENT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790575" y="4588073"/>
            <a:ext cx="39608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Page App (SPA)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790575" y="4826198"/>
            <a:ext cx="32639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Camera capture, Chart.js visualizer, JWT Auth Guard.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4511724" y="4359473"/>
            <a:ext cx="39608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GATEWAY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4511724" y="4588073"/>
            <a:ext cx="39608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FastAPI + Uvicorn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4511724" y="4826198"/>
            <a:ext cx="32639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Asynchronous endpoint, sub-250ms latency response.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8232874" y="4359473"/>
            <a:ext cx="3959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PERSISTENCE &amp; REPORT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8232874" y="4588073"/>
            <a:ext cx="3959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WAL &amp; ReportLab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8232874" y="4826198"/>
            <a:ext cx="32639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Concurrent transaction logging and instant PDF export.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/>
          <p:nvPr/>
        </p:nvSpPr>
        <p:spPr>
          <a:xfrm>
            <a:off x="609600" y="6019651"/>
            <a:ext cx="109728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09600" y="2011560"/>
            <a:ext cx="10972800" cy="533400"/>
          </a:xfrm>
          <a:prstGeom prst="roundRect">
            <a:avLst>
              <a:gd fmla="val 14285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09600" y="2640210"/>
            <a:ext cx="10972800" cy="533400"/>
          </a:xfrm>
          <a:prstGeom prst="roundRect">
            <a:avLst>
              <a:gd fmla="val 14285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609600" y="3268860"/>
            <a:ext cx="10972800" cy="533400"/>
          </a:xfrm>
          <a:prstGeom prst="roundRect">
            <a:avLst>
              <a:gd fmla="val 14285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609600" y="3897510"/>
            <a:ext cx="10972800" cy="533400"/>
          </a:xfrm>
          <a:prstGeom prst="roundRect">
            <a:avLst>
              <a:gd fmla="val 14285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609600" y="4526160"/>
            <a:ext cx="10972800" cy="533400"/>
          </a:xfrm>
          <a:prstGeom prst="roundRect">
            <a:avLst>
              <a:gd fmla="val 14285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809625" y="2154435"/>
            <a:ext cx="733425" cy="247650"/>
          </a:xfrm>
          <a:prstGeom prst="roundRect">
            <a:avLst>
              <a:gd fmla="val 15384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809625" y="2783085"/>
            <a:ext cx="752475" cy="247650"/>
          </a:xfrm>
          <a:prstGeom prst="roundRect">
            <a:avLst>
              <a:gd fmla="val 15384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809625" y="3411735"/>
            <a:ext cx="762000" cy="247650"/>
          </a:xfrm>
          <a:prstGeom prst="roundRect">
            <a:avLst>
              <a:gd fmla="val 15384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809625" y="4040385"/>
            <a:ext cx="762000" cy="247650"/>
          </a:xfrm>
          <a:prstGeom prst="roundRect">
            <a:avLst>
              <a:gd fmla="val 15384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809625" y="4669035"/>
            <a:ext cx="762000" cy="247650"/>
          </a:xfrm>
          <a:prstGeom prst="roundRect">
            <a:avLst>
              <a:gd fmla="val 15384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FARMER DECISION SUPPORT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5-Pillar Agricultural Clinical Advisory Model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790575" y="6124426"/>
            <a:ext cx="3583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Integrated Pest Management (IPM) Standard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6838950" y="6124426"/>
            <a:ext cx="5353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Balances urgent chemical remediation with ecological and soil protection.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5772150" y="2187773"/>
            <a:ext cx="6419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835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Concentric target-board brown lesions on lower leaves with chlorotic yellow halos.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5467350" y="2816423"/>
            <a:ext cx="67246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Alternaria solani fungal spores triggered by prolonged leaf wetness and warm humidity.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6000750" y="3445073"/>
            <a:ext cx="619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Spray Neem oil (0.5%) or Trichoderma harzianum; apply protective straw mulch.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5629275" y="4073723"/>
            <a:ext cx="6562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Chlorothalonil (0.2%) or Mancozeb 75% WP @ 2.5g/L applied at economic threshold.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5667375" y="4702373"/>
            <a:ext cx="6524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 certified disease-free seed and enforce a strict 3-year crop rotation schedule.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904875" y="2192535"/>
            <a:ext cx="63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1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1695450" y="2173485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Foliar Symptoms &amp; Markers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904875" y="2821185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2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1714500" y="2802135"/>
            <a:ext cx="25955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Pathogen Cause &amp; Triggers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904875" y="344983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3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1724025" y="3430785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Organic &amp; Biological Controls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904875" y="407848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4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1724025" y="4059435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Chemical Solutions &amp; Dosage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904875" y="470713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5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1724025" y="4688085"/>
            <a:ext cx="277415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 Cultural Sanitation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/>
          <p:nvPr/>
        </p:nvSpPr>
        <p:spPr>
          <a:xfrm>
            <a:off x="609600" y="1849635"/>
            <a:ext cx="5400675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181725" y="1849635"/>
            <a:ext cx="5400675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609600" y="3726060"/>
            <a:ext cx="5400675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6181725" y="3726060"/>
            <a:ext cx="5400675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0" y="209252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0925" y="2092523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800" y="396894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0" y="396894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609600" y="6229201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 Public Endpoint: http://172.198.160.255:8000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FULL-STACK DEPLOYMENT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Infrastructure &amp; Cloud Reliability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828675" y="2068710"/>
            <a:ext cx="23877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Learning Engine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828675" y="2383035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PyTorch 2.0+ &amp; Timm library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828675" y="2640210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Weight: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ViT-Base Model B (328 MB)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28675" y="2897385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CPU-optimized tensor inference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28675" y="3154560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Low-confidence thresholding (&lt;40%)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6400800" y="2068710"/>
            <a:ext cx="23877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High-Speed REST API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6400800" y="2383035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FastAPI &amp; Uvicorn ASGI runner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400800" y="2640210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&lt; 250ms evaluation speed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6400800" y="2897385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PyJWT + Bcrypt authentication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6400800" y="3154560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Contract: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RESTful JSON request/response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828675" y="3945135"/>
            <a:ext cx="26878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Storage &amp; Report Engine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828675" y="4259460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SQLite in WAL mode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828675" y="4516635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Concurrency: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Zero database lock contention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828675" y="4773810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Permanent scan &amp; diagnostic logs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28675" y="5030985"/>
            <a:ext cx="6203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PDF Generator: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ReportLab automated 2-page exporter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6400800" y="3945135"/>
            <a:ext cx="29003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Azure Cloud Infrastructure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6400800" y="4259460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Microsoft Azure Linux VM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6400800" y="4516635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Operating System: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Ubuntu 24.04 LTS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6400800" y="4773810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Instance: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Standard B2s (2 vCPUs, 4 GiB RAM)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6400800" y="5030985"/>
            <a:ext cx="579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Systemd 24/7 background daemon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/>
          <p:nvPr/>
        </p:nvSpPr>
        <p:spPr>
          <a:xfrm>
            <a:off x="609600" y="610537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7315200" y="2171700"/>
            <a:ext cx="4267200" cy="1630560"/>
          </a:xfrm>
          <a:prstGeom prst="roundRect">
            <a:avLst>
              <a:gd fmla="val 7009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7315200" y="3954660"/>
            <a:ext cx="4267200" cy="1030485"/>
          </a:xfrm>
          <a:prstGeom prst="roundRect">
            <a:avLst>
              <a:gd fmla="val 110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" name="Google Shape;294;p19"/>
          <p:cNvGraphicFramePr/>
          <p:nvPr/>
        </p:nvGraphicFramePr>
        <p:xfrm>
          <a:off x="609600" y="24163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{E0A12C7A-8471-4BDC-967A-9A9661859FD7}</a:tableStyleId>
              </a:tblPr>
              <a:tblGrid>
                <a:gridCol w="2055900"/>
                <a:gridCol w="1887875"/>
                <a:gridCol w="2457000"/>
              </a:tblGrid>
              <a:tr h="4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Lab Benchmark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 Field (PlantDoc)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 Dataset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8,226 Images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236 Real Farm Images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Top-1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99.91%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61.86%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Top-3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87.29%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Macro F1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0.9730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0.6410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9"/>
          <p:cNvSpPr txBox="1"/>
          <p:nvPr/>
        </p:nvSpPr>
        <p:spPr>
          <a:xfrm>
            <a:off x="609600" y="6219676"/>
            <a:ext cx="11068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Decision Support: Presenting calibrated top-3 candidates guarantees higher diagnostic safety for agronomists.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EXPERIMENTAL RESULTS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Benchmark Performance: Laboratory vs. Real-World Field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7534275" y="239077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87.29%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7534275" y="2943225"/>
            <a:ext cx="4657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Top-3 Differential Diagnosis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7534275" y="3209925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Captures the true pathology in nearly 9 out of 10 field cases despite motion blur and soil dirt.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7515225" y="4154685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Hallucination Proof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515225" y="4411860"/>
            <a:ext cx="39624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333-pair biologic matrix completely rejected impossible cross-family diagnoses in testing.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/>
          <p:nvPr/>
        </p:nvSpPr>
        <p:spPr>
          <a:xfrm>
            <a:off x="609600" y="2339726"/>
            <a:ext cx="5572125" cy="2601217"/>
          </a:xfrm>
          <a:prstGeom prst="roundRect">
            <a:avLst>
              <a:gd fmla="val 439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847725" y="4159001"/>
            <a:ext cx="5095875" cy="543817"/>
          </a:xfrm>
          <a:prstGeom prst="roundRect">
            <a:avLst>
              <a:gd fmla="val 105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6486525" y="2110382"/>
            <a:ext cx="5095875" cy="995362"/>
          </a:xfrm>
          <a:prstGeom prst="roundRect">
            <a:avLst>
              <a:gd fmla="val 95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6486525" y="3239095"/>
            <a:ext cx="5095875" cy="995362"/>
          </a:xfrm>
          <a:prstGeom prst="roundRect">
            <a:avLst>
              <a:gd fmla="val 95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6486525" y="4367807"/>
            <a:ext cx="5095875" cy="802481"/>
          </a:xfrm>
          <a:prstGeom prst="roundRect">
            <a:avLst>
              <a:gd fmla="val 118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168401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3168401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2319932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3448645"/>
            <a:ext cx="1809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4577357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 txBox="1"/>
          <p:nvPr/>
        </p:nvSpPr>
        <p:spPr>
          <a:xfrm>
            <a:off x="609600" y="6229201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 mechanism: One-click PDF generation via ReportLab Engine running directly on server backend.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EXPERIENCE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Clinical PDF Report &amp; Web Interface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962025" y="4254251"/>
            <a:ext cx="4962525" cy="353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 5-pillar advisory embedded: Mancozeb 75% WP dosage, Neem oil bio-control, and 3-year crop rotation protocols.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4953000" y="2668339"/>
            <a:ext cx="1276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 ID: #104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6667500" y="2291357"/>
            <a:ext cx="552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Pesticide Retail Guidance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6667500" y="2539007"/>
            <a:ext cx="48291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Farmers present exact chemical active ingredients to retailers rather than guessing.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6667500" y="3420070"/>
            <a:ext cx="552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Crop Insurance Verification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6667500" y="3667720"/>
            <a:ext cx="48291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Serves as an immutable timestamped record to prove regional pathogen outbreaks.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6667500" y="4548782"/>
            <a:ext cx="552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Agricultural Bank Credit Records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667500" y="4796432"/>
            <a:ext cx="55245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Generates historical farm health logs for seasonal credit underwriting.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847725" y="2577851"/>
            <a:ext cx="28753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Multi-Crop Pathology Report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847725" y="2777876"/>
            <a:ext cx="2738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Clinical Diagnostic Output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838325" y="3301751"/>
            <a:ext cx="3131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 Crop: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Potato (Solanum tuberosum)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1838325" y="3511301"/>
            <a:ext cx="3131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Diagnosis:</a:t>
            </a:r>
            <a:r>
              <a:rPr b="0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Early Blight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1838325" y="3720851"/>
            <a:ext cx="3131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Confidence:</a:t>
            </a:r>
            <a:r>
              <a:rPr b="0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88.50% (Verified)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609600" y="6019651"/>
            <a:ext cx="10972800" cy="381000"/>
          </a:xfrm>
          <a:prstGeom prst="roundRect">
            <a:avLst>
              <a:gd fmla="val 2000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609600" y="2202060"/>
            <a:ext cx="5353050" cy="2667000"/>
          </a:xfrm>
          <a:prstGeom prst="roundRect">
            <a:avLst>
              <a:gd fmla="val 428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229350" y="2202060"/>
            <a:ext cx="5353050" cy="2667000"/>
          </a:xfrm>
          <a:prstGeom prst="roundRect">
            <a:avLst>
              <a:gd fmla="val 428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847725" y="2744985"/>
            <a:ext cx="487680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467475" y="2744985"/>
            <a:ext cx="48768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781050" y="6114901"/>
            <a:ext cx="1072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Scalability trajectory: Expanding from single leaf diagnosis to automated farm-wide precision epidemiology.</a:t>
            </a:r>
            <a:endParaRPr/>
          </a:p>
        </p:txBody>
      </p:sp>
      <p:sp>
        <p:nvSpPr>
          <p:cNvPr id="343" name="Google Shape;343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FUTURE ROADMAP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Contributions &amp; Future Scope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847725" y="2440185"/>
            <a:ext cx="522065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Deliverables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6467475" y="2440185"/>
            <a:ext cx="522065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 2.0 Roadmap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847725" y="28973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Multi-Crop Breadth: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Expanded from single-crop limits to 55 crops and 175 diseases.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847725" y="33545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Dual-Head Decoupling: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Eliminated cross-crop taxonomic errors via 333 pair gating.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847725" y="38117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Actionable 5-Pillar Care: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Linked raw classifications with IPM chemical and organic doses.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847725" y="42689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Deployment: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Hosted live on Microsoft Azure with sub-250ms latency.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6467475" y="28973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Edge &amp; Offline Deployment: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INT8/ONNX model quantization for zero-internet Android phones.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6467475" y="33545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Multilingual Vernacular Audio: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Native voice feedback in Hindi, Marathi, and Telugu.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6467475" y="38117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Multispectral Drone Scouting: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Aerial vegetation indices to catch outbreaks across entire hectares.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6467475" y="4268985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Micro-Weather Telemetry: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48-hour sporulation risk predictions using ambient humidity sensors.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5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/>
          <p:nvPr/>
        </p:nvSpPr>
        <p:spPr>
          <a:xfrm>
            <a:off x="609600" y="5943451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609600" y="533400"/>
            <a:ext cx="2171700" cy="285750"/>
          </a:xfrm>
          <a:prstGeom prst="roundRect">
            <a:avLst>
              <a:gd fmla="val 20000" name="adj"/>
            </a:avLst>
          </a:prstGeom>
          <a:solidFill>
            <a:srgbClr val="0A3D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3619500" y="3413521"/>
            <a:ext cx="4953000" cy="1371600"/>
          </a:xfrm>
          <a:prstGeom prst="roundRect">
            <a:avLst>
              <a:gd fmla="val 9722" name="adj"/>
            </a:avLst>
          </a:prstGeom>
          <a:solidFill>
            <a:srgbClr val="182C23"/>
          </a:solidFill>
          <a:ln cap="flat" cmpd="sng" w="9525">
            <a:solidFill>
              <a:srgbClr val="0C5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609600" y="5943451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4879181" y="3694509"/>
            <a:ext cx="95250" cy="952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742950" y="590550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 &amp; EVALUATION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9429750" y="590550"/>
            <a:ext cx="2690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Dissertation Defense Presentation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951607" y="1977479"/>
            <a:ext cx="1028878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Validation &amp; Live Demonstration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1333500" y="2647950"/>
            <a:ext cx="9525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verified, biologically grounded Dual-Head Vision Transformer platform ready for real-world agricultural impact.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609600" y="6143476"/>
            <a:ext cx="7953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evaluation. We are now open for Questions &amp; Live Defense Demonstration.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10258425" y="6148238"/>
            <a:ext cx="1654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2026–2027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3869531" y="3927871"/>
            <a:ext cx="445293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http://172.198.160.255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3440906" y="4375546"/>
            <a:ext cx="5310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Microsoft Azure Linux VM • Ubuntu 24.04 LTS • Standard B2s Instance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4789289" y="3651646"/>
            <a:ext cx="280392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CLOUD SERVER RUNNING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